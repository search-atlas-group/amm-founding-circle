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18"/>
  </p:normalViewPr>
  <p:slideViewPr>
    <p:cSldViewPr snapToGrid="0" snapToObjects="1">
      <p:cViewPr varScale="1">
        <p:scale>
          <a:sx n="117" d="100"/>
          <a:sy n="117" d="100"/>
        </p:scale>
        <p:origin x="26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Agentic Marketing Mastermind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8BDF8"/>
                </a:solidFill>
                <a:latin typeface="Calibri"/>
              </a:defRPr>
            </a:pPr>
            <a:r>
              <a:t>New User Setup 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3383280"/>
            <a:ext cx="3047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534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Calibri"/>
              </a:defRPr>
            </a:pPr>
            <a:r>
              <a:t>AI-powered marketing toolkit for SearchAtlas agencies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Setup time: ~15 minutes  |  Works on Mac &amp; Windows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You'll Need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515600" cy="86868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05840" y="1755648"/>
            <a:ext cx="640080" cy="6400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691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Claude Pro or Max subscription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03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$20/mo or $100/mo — claude.ai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515600" cy="86868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2852928"/>
            <a:ext cx="640080" cy="6400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7889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Warp Terminal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Free — warp.dev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10515600" cy="86868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05840" y="3950208"/>
            <a:ext cx="640080" cy="6400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8862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SearchAtlas Account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297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With an API key — searchatlas.com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937760"/>
            <a:ext cx="10515600" cy="86868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05840" y="5047488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9834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10-15 minutes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394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One-time setup, then you're good to go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Get a Claude Subscription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4114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Calibri"/>
              </a:defRPr>
            </a:pPr>
            <a:r>
              <a:t>How to subscribe: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1.  Go to claude.ai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2.  Sign up or log in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3.  Click 'Upgrade to Pro' (or Max)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4.  Complete payment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923C"/>
                </a:solidFill>
                <a:latin typeface="Calibri"/>
              </a:defRPr>
            </a:pPr>
            <a:r>
              <a:t>Which plan?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560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Pro ($20/mo) — Good for getting started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Max ($100/mo) — 5x more usage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Recommendation: Start with Pro.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Upgrade to Max if you run workflows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daily for multiple clients.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Install Warp Terminal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4114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Calibri"/>
              </a:defRPr>
            </a:pPr>
            <a:r>
              <a:t>Mac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1.  Go to warp.dev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2.  Click 'Download for Mac'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3.  Open the .dmg file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4.  Drag Warp to Applications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5.  Open Warp and sign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  <a:latin typeface="Calibri"/>
              </a:defRPr>
            </a:pPr>
            <a:r>
              <a:t>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5176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1.  Go to warp.dev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2.  Click 'Download for Windows'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3.  Run the installer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4.  Follow the prompts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5.  Open Warp and sign up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Install Claude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109728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Open Warp and run: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Courier New"/>
              </a:defRPr>
            </a:pPr>
            <a:r>
              <a:t>npm install -g @anthropic-ai/claude-code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10515600" cy="109728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Verify it worked: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  <a:latin typeface="Courier New"/>
              </a:defRPr>
            </a:pPr>
            <a:r>
              <a:t>claude --version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923C"/>
                </a:solidFill>
                <a:latin typeface="Calibri"/>
              </a:defRPr>
            </a:pPr>
            <a:r>
              <a:t>Don't have npm?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03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  <a:latin typeface="Calibri"/>
              </a:defRPr>
            </a:pPr>
            <a:r>
              <a:t>Install Node.js first from nodejs.org (LTS version). This gives you both node and npm.</a:t>
            </a:r>
            <a:br/>
            <a:r>
              <a:t>Restart Warp after installing.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Steps 4 &amp;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Create Directory &amp; Clone the Repo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146304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Create your working directory: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Courier New"/>
              </a:defRPr>
            </a:pPr>
            <a:r>
              <a:t>mkdir -p ~/agency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You can name this anything — ~/agency, ~/clients, ~/marketing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10515600" cy="1828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Clone the toolkit: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  <a:latin typeface="Courier New"/>
              </a:defRPr>
            </a:pPr>
            <a:r>
              <a:t>cd ~/agency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ourier New"/>
              </a:defRPr>
            </a:pPr>
            <a:r>
              <a:t>git clone https://github.com/search-atlas-group/amm-toolkit.git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120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ourier New"/>
              </a:defRPr>
            </a:pPr>
            <a:r>
              <a:t>cd amm-toolkit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Run the Setup Wizard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82296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8BDF8"/>
                </a:solidFill>
                <a:latin typeface="Courier New"/>
              </a:defRPr>
            </a:pPr>
            <a:r>
              <a:t>bash setup.sh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515600" cy="9144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30632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Step 1/3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0632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SearchAtlas API Key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474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Go to searchatlas.com → Settings → API Keys → Copy your 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515600" cy="9144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160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  <a:latin typeface="Calibri"/>
              </a:defRPr>
            </a:pPr>
            <a:r>
              <a:t>Step 2/3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1605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Communication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Slack, Discord, Email, or Circle — pick what you use (or skip)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12080"/>
            <a:ext cx="10515600" cy="9144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923C"/>
                </a:solidFill>
                <a:latin typeface="Calibri"/>
              </a:defRPr>
            </a:pPr>
            <a:r>
              <a:t>Step 3/3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2578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MCP Server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669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Happens automatically — connects Claude Code to SearchAtlas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Verify Everything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438912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Calibri"/>
              </a:defRPr>
            </a:pPr>
            <a:r>
              <a:t>Test commands: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8BDF8"/>
                </a:solidFill>
                <a:latin typeface="Courier New"/>
              </a:defRPr>
            </a:pPr>
            <a:r>
              <a:t>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Should list all 14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4D399"/>
                </a:solidFill>
                <a:latin typeface="Courier New"/>
              </a:defRPr>
            </a:pPr>
            <a:r>
              <a:t>/my-account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148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Should show your businesses &amp; projects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029200" cy="438912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923C"/>
                </a:solidFill>
                <a:latin typeface="Calibri"/>
              </a:defRPr>
            </a:pPr>
            <a:r>
              <a:t>If something's wrong: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Commands missing?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  → Re-run: bash setup.sh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MCP / tool errors?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  → Re-run: bash scripts/setup-interactive.sh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npm not found?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  → Install Node.js from nodejs.org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git not found?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  → Mac: xcode-select --install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  → Win: git-scm.com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All 14 Commands at Your Fingertips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44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ourier New"/>
              </a:defRPr>
            </a:pPr>
            <a:r>
              <a:t>/my-account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4447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See all clients &amp; projects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574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305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ourier New"/>
              </a:defRPr>
            </a:pPr>
            <a:r>
              <a:t>/business-report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305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Deep dive on one client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432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8163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ourier New"/>
              </a:defRPr>
            </a:pPr>
            <a:r>
              <a:t>/onboard-client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8163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Set up a new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290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ourier New"/>
              </a:defRPr>
            </a:pPr>
            <a:r>
              <a:t>/run-seo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502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SEO workflow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148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1879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ourier New"/>
              </a:defRPr>
            </a:pPr>
            <a:r>
              <a:t>/run-gbp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1879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GBP optimization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006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873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ourier New"/>
              </a:defRPr>
            </a:pPr>
            <a:r>
              <a:t>/run-ppc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8737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PPC campaign launch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4864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55595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ourier New"/>
              </a:defRPr>
            </a:pPr>
            <a:r>
              <a:t>/run-content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5595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Content generation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3716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1444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ourier New"/>
              </a:defRPr>
            </a:pPr>
            <a:r>
              <a:t>/run-pr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14447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Press releases &amp; PR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0574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0" y="21305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ourier New"/>
              </a:defRPr>
            </a:pPr>
            <a:r>
              <a:t>/run-visibility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1305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LLM visibility audit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7432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28163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ourier New"/>
              </a:defRPr>
            </a:pPr>
            <a:r>
              <a:t>/send-slack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28163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Post to Slack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34290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0" y="35021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ourier New"/>
              </a:defRPr>
            </a:pPr>
            <a:r>
              <a:t>/send-discord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502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Post to Discord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1148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41879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ourier New"/>
              </a:defRPr>
            </a:pPr>
            <a:r>
              <a:t>/send-email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1879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Send email report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8006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0" y="4873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ourier New"/>
              </a:defRPr>
            </a:pPr>
            <a:r>
              <a:t>/send-circle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8737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Post to Circle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54864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55595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4A3B8"/>
                </a:solidFill>
                <a:latin typeface="Courier New"/>
              </a:defRPr>
            </a:pPr>
            <a:r>
              <a:t>/help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55595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List all commands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When a New Client Onboards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Run these commands in order: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515600" cy="685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14400" y="1764792"/>
            <a:ext cx="640080" cy="6400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Courier New"/>
              </a:defRPr>
            </a:pPr>
            <a:r>
              <a:t>/onboard-client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E8F0"/>
                </a:solidFill>
                <a:latin typeface="Calibri"/>
              </a:defRPr>
            </a:pPr>
            <a:r>
              <a:t>Create project, brand vault, initial audit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10515600" cy="685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14400" y="2542032"/>
            <a:ext cx="640080" cy="6400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ourier New"/>
              </a:defRPr>
            </a:pPr>
            <a:r>
              <a:t>/run-seo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E8F0"/>
                </a:solidFill>
                <a:latin typeface="Calibri"/>
              </a:defRPr>
            </a:pPr>
            <a:r>
              <a:t>Full SEO setup — audit, keywords, content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10515600" cy="685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4400" y="3319272"/>
            <a:ext cx="640080" cy="6400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83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923C"/>
                </a:solidFill>
                <a:latin typeface="Courier New"/>
              </a:defRPr>
            </a:pPr>
            <a:r>
              <a:t>/run-gbp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383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E8F0"/>
                </a:solidFill>
                <a:latin typeface="Calibri"/>
              </a:defRPr>
            </a:pPr>
            <a:r>
              <a:t>Optimize Google Business Profile (if applicable)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515600" cy="685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14400" y="4096512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60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ourier New"/>
              </a:defRPr>
            </a:pPr>
            <a:r>
              <a:t>/run-ppc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160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E8F0"/>
                </a:solidFill>
                <a:latin typeface="Calibri"/>
              </a:defRPr>
            </a:pPr>
            <a:r>
              <a:t>Set up Google Ads campaigns (if applicable)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46320"/>
            <a:ext cx="10515600" cy="685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14400" y="4873752"/>
            <a:ext cx="640080" cy="6400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937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Courier New"/>
              </a:defRPr>
            </a:pPr>
            <a:r>
              <a:t>/run-content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9377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E8F0"/>
                </a:solidFill>
                <a:latin typeface="Calibri"/>
              </a:defRPr>
            </a:pPr>
            <a:r>
              <a:t>Generate first batch of articles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623560"/>
            <a:ext cx="10515600" cy="685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14400" y="5650992"/>
            <a:ext cx="640080" cy="6400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715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ourier New"/>
              </a:defRPr>
            </a:pPr>
            <a:r>
              <a:t>/send-slack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715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E8F0"/>
                </a:solidFill>
                <a:latin typeface="Calibri"/>
              </a:defRPr>
            </a:pPr>
            <a:r>
              <a:t>Share results with the client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Links &amp; Resources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4356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Toolkit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435608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8BDF8"/>
                </a:solidFill>
                <a:latin typeface="Calibri"/>
              </a:defRPr>
            </a:pPr>
            <a:r>
              <a:t>github.com/search-atlas-group/amm-toolkit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38528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Claude AI (subscription)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002536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8BDF8"/>
                </a:solidFill>
                <a:latin typeface="Calibri"/>
              </a:defRPr>
            </a:pPr>
            <a:r>
              <a:t>claude.ai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05456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56946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Warp 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569464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  <a:latin typeface="Calibri"/>
              </a:defRPr>
            </a:pPr>
            <a:r>
              <a:t>warp.dev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72384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Node.js (for npm)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13639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  <a:latin typeface="Calibri"/>
              </a:defRPr>
            </a:pPr>
            <a:r>
              <a:t>nodejs.org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39312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SearchAtlas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703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923C"/>
                </a:solidFill>
                <a:latin typeface="Calibri"/>
              </a:defRPr>
            </a:pPr>
            <a:r>
              <a:t>searchatlas.com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42702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Slack Webhooks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270248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78BFA"/>
                </a:solidFill>
                <a:latin typeface="Calibri"/>
              </a:defRPr>
            </a:pPr>
            <a:r>
              <a:t>api.slack.com/messaging/webhooks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773168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483717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Discord Webhooks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837176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78BFA"/>
                </a:solidFill>
                <a:latin typeface="Calibri"/>
              </a:defRPr>
            </a:pPr>
            <a:r>
              <a:t>Server Settings → Integrations → Webhooks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40096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540410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Resend (Email 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404104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78BFA"/>
                </a:solidFill>
                <a:latin typeface="Calibri"/>
              </a:defRPr>
            </a:pPr>
            <a:r>
              <a:t>resend.com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907024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59710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Git (Windows)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97103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git-scm.com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You're Ready to Go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108960"/>
            <a:ext cx="3047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8BDF8"/>
                </a:solidFill>
                <a:latin typeface="Courier New"/>
              </a:defRPr>
            </a:pPr>
            <a:r>
              <a:t>Open Warp  →  cd ~/agency/amm-toolkit  →  claude  → 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Calibri"/>
              </a:defRPr>
            </a:pPr>
            <a:r>
              <a:t>Need help? Reach out to your account manager.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